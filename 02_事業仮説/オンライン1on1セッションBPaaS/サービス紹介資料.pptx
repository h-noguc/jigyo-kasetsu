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3600"/>
              </a:lnSpc>
            </a:pPr>
            <a:r>
              <a:rPr sz="2300" b="1" i="0">
                <a:solidFill>
                  <a:srgbClr val="2D2D2D"/>
                </a:solidFill>
                <a:latin typeface="TT Commons Pro"/>
              </a:rPr>
              <a:t>コーチングで独立する人の、裏方をまるごと引き受けます。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35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400"/>
              </a:lnSpc>
            </a:pPr>
            <a:r>
              <a:rPr sz="1700" b="1" i="0">
                <a:solidFill>
                  <a:srgbClr val="2D2D2D"/>
                </a:solidFill>
                <a:latin typeface="TT Commons Pro"/>
              </a:rPr>
              <a:t>起業支援者の皆さまへ — 協業のご提案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3600"/>
              </a:lnSpc>
            </a:pPr>
            <a:r>
              <a:rPr sz="2300" b="1" i="0">
                <a:solidFill>
                  <a:srgbClr val="2D2D2D"/>
                </a:solidFill>
                <a:latin typeface="TT Commons Pro"/>
              </a:rPr>
              <a:t>始めたい人が、始められる。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553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000"/>
              </a:lnSpc>
            </a:pPr>
            <a:r>
              <a:rPr sz="1300" b="0" i="0">
                <a:solidFill>
                  <a:srgbClr val="646464"/>
                </a:solidFill>
                <a:latin typeface="TT Commons Pro"/>
              </a:rPr>
              <a:t>自分のスキルや経験を活かして誰かの役に立ちたい——その想いを持つ人が、事業オペレーションという「やりたいこと以外のハードル」に阻まれず、価値提供に集中できる世界を目指しています。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21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200"/>
              </a:lnSpc>
            </a:pPr>
            <a:r>
              <a:rPr sz="2100" b="1" i="0">
                <a:solidFill>
                  <a:srgbClr val="2D2D2D"/>
                </a:solidFill>
                <a:latin typeface="TT Commons Pro"/>
              </a:rPr>
              <a:t>こんな方を見たことはありませんか？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0760"/>
            <a:ext cx="7863840" cy="1061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000"/>
              </a:lnSpc>
            </a:pPr>
            <a:r>
              <a:rPr sz="1300" b="0" i="0">
                <a:solidFill>
                  <a:srgbClr val="2D2D2D"/>
                </a:solidFill>
                <a:latin typeface="TT Commons Pro"/>
              </a:rPr>
              <a:t>• やりたいことは決まっているのに、</a:t>
            </a:r>
            <a:r>
              <a:rPr sz="1300" b="1" i="0">
                <a:solidFill>
                  <a:srgbClr val="2D2D2D"/>
                </a:solidFill>
                <a:latin typeface="TT Commons Pro"/>
              </a:rPr>
              <a:t>動き出せない</a:t>
            </a:r>
          </a:p>
          <a:p>
            <a:pPr algn="l">
              <a:lnSpc>
                <a:spcPts val="2000"/>
              </a:lnSpc>
            </a:pPr>
            <a:r>
              <a:rPr sz="1300" b="0" i="0">
                <a:solidFill>
                  <a:srgbClr val="2D2D2D"/>
                </a:solidFill>
                <a:latin typeface="TT Commons Pro"/>
              </a:rPr>
              <a:t>• 「まず行動しよう」と伝えても、何から手をつければいいかわからない</a:t>
            </a:r>
          </a:p>
          <a:p>
            <a:pPr algn="l">
              <a:lnSpc>
                <a:spcPts val="2000"/>
              </a:lnSpc>
            </a:pPr>
            <a:r>
              <a:rPr sz="1300" b="0" i="0">
                <a:solidFill>
                  <a:srgbClr val="2D2D2D"/>
                </a:solidFill>
                <a:latin typeface="TT Commons Pro"/>
              </a:rPr>
              <a:t>• 集客やセッション設計の前に、</a:t>
            </a:r>
            <a:r>
              <a:rPr sz="1300" b="1" i="0">
                <a:solidFill>
                  <a:srgbClr val="2D2D2D"/>
                </a:solidFill>
                <a:latin typeface="TT Commons Pro"/>
              </a:rPr>
              <a:t>契約・決済・規約</a:t>
            </a:r>
            <a:r>
              <a:rPr sz="1300" b="0" i="0">
                <a:solidFill>
                  <a:srgbClr val="2D2D2D"/>
                </a:solidFill>
                <a:latin typeface="TT Commons Pro"/>
              </a:rPr>
              <a:t>で止まっている</a:t>
            </a:r>
          </a:p>
          <a:p>
            <a:pPr algn="l">
              <a:lnSpc>
                <a:spcPts val="2000"/>
              </a:lnSpc>
            </a:pPr>
            <a:r>
              <a:rPr sz="1300" b="0" i="0">
                <a:solidFill>
                  <a:srgbClr val="2D2D2D"/>
                </a:solidFill>
                <a:latin typeface="TT Commons Pro"/>
              </a:rPr>
              <a:t>• オペレーションの構築方法を教えても、</a:t>
            </a:r>
            <a:r>
              <a:rPr sz="1300" b="1" i="0">
                <a:solidFill>
                  <a:srgbClr val="2D2D2D"/>
                </a:solidFill>
                <a:latin typeface="TT Commons Pro"/>
              </a:rPr>
              <a:t>実行まで至らない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45360"/>
            <a:ext cx="8229600" cy="299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000"/>
              </a:lnSpc>
            </a:pPr>
            <a:r>
              <a:rPr sz="1300" b="0" i="0">
                <a:solidFill>
                  <a:srgbClr val="2D2D2D"/>
                </a:solidFill>
                <a:latin typeface="TT Commons Pro"/>
              </a:rPr>
              <a:t>起業志望者が「やりたいけど動けない」状態で止まると、起業支援の成果が出にくくなります。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21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200"/>
              </a:lnSpc>
            </a:pPr>
            <a:r>
              <a:rPr sz="2100" b="1" i="0">
                <a:solidFill>
                  <a:srgbClr val="2D2D2D"/>
                </a:solidFill>
                <a:latin typeface="TT Commons Pro"/>
              </a:rPr>
              <a:t>原因：セッション以外の「やるべきこと」が多すぎる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0760"/>
            <a:ext cx="8229600" cy="2331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000"/>
              </a:lnSpc>
            </a:pPr>
            <a:r>
              <a:rPr sz="1300" b="0" i="0">
                <a:solidFill>
                  <a:srgbClr val="2D2D2D"/>
                </a:solidFill>
                <a:latin typeface="TT Commons Pro"/>
              </a:rPr>
              <a:t>セッション事業を始めるには、セッションそのもの以外に</a:t>
            </a:r>
            <a:r>
              <a:rPr sz="1300" b="1" i="0">
                <a:solidFill>
                  <a:srgbClr val="2D2D2D"/>
                </a:solidFill>
                <a:latin typeface="TT Commons Pro"/>
              </a:rPr>
              <a:t>事業オペレーション全体の設計・構築</a:t>
            </a:r>
            <a:r>
              <a:rPr sz="1300" b="0" i="0">
                <a:solidFill>
                  <a:srgbClr val="2D2D2D"/>
                </a:solidFill>
                <a:latin typeface="TT Commons Pro"/>
              </a:rPr>
              <a:t>が必要です。</a:t>
            </a:r>
          </a:p>
          <a:p>
            <a:pPr algn="l">
              <a:lnSpc>
                <a:spcPts val="2000"/>
              </a:lnSpc>
            </a:pPr>
          </a:p>
          <a:p>
            <a:pPr algn="l">
              <a:lnSpc>
                <a:spcPts val="2000"/>
              </a:lnSpc>
            </a:pPr>
            <a:r>
              <a:rPr sz="1300" b="0" i="0">
                <a:solidFill>
                  <a:srgbClr val="2D2D2D"/>
                </a:solidFill>
                <a:latin typeface="TT Commons Pro"/>
              </a:rPr>
              <a:t>• 問い合わせが来たらどう対応するか</a:t>
            </a:r>
          </a:p>
          <a:p>
            <a:pPr algn="l">
              <a:lnSpc>
                <a:spcPts val="2000"/>
              </a:lnSpc>
            </a:pPr>
            <a:r>
              <a:rPr sz="1300" b="0" i="0">
                <a:solidFill>
                  <a:srgbClr val="2D2D2D"/>
                </a:solidFill>
                <a:latin typeface="TT Commons Pro"/>
              </a:rPr>
              <a:t>• 規約・契約書をどう整備するか</a:t>
            </a:r>
          </a:p>
          <a:p>
            <a:pPr algn="l">
              <a:lnSpc>
                <a:spcPts val="2000"/>
              </a:lnSpc>
            </a:pPr>
            <a:r>
              <a:rPr sz="1300" b="0" i="0">
                <a:solidFill>
                  <a:srgbClr val="2D2D2D"/>
                </a:solidFill>
                <a:latin typeface="TT Commons Pro"/>
              </a:rPr>
              <a:t>• 決済手段をどう用意するか</a:t>
            </a:r>
          </a:p>
          <a:p>
            <a:pPr algn="l">
              <a:lnSpc>
                <a:spcPts val="2000"/>
              </a:lnSpc>
            </a:pPr>
            <a:r>
              <a:rPr sz="1300" b="0" i="0">
                <a:solidFill>
                  <a:srgbClr val="2D2D2D"/>
                </a:solidFill>
                <a:latin typeface="TT Commons Pro"/>
              </a:rPr>
              <a:t>• 予約調整・事前案内・リマインドの仕組みをどう作るか</a:t>
            </a:r>
          </a:p>
          <a:p>
            <a:pPr algn="l">
              <a:lnSpc>
                <a:spcPts val="2000"/>
              </a:lnSpc>
            </a:pPr>
            <a:r>
              <a:rPr sz="1300" b="0" i="0">
                <a:solidFill>
                  <a:srgbClr val="2D2D2D"/>
                </a:solidFill>
                <a:latin typeface="TT Commons Pro"/>
              </a:rPr>
              <a:t>• クレーム・返金・無断欠席にどう対処するか</a:t>
            </a:r>
          </a:p>
          <a:p>
            <a:pPr algn="l">
              <a:lnSpc>
                <a:spcPts val="2000"/>
              </a:lnSpc>
            </a:pPr>
            <a:r>
              <a:rPr sz="1300" b="0" i="0">
                <a:solidFill>
                  <a:srgbClr val="2D2D2D"/>
                </a:solidFill>
                <a:latin typeface="TT Commons Pro"/>
              </a:rPr>
              <a:t>• 経理・会計をどう進めるか</a:t>
            </a:r>
          </a:p>
          <a:p>
            <a:pPr algn="l">
              <a:lnSpc>
                <a:spcPts val="2000"/>
              </a:lnSpc>
            </a:pPr>
            <a:r>
              <a:rPr sz="1300" b="0" i="0">
                <a:solidFill>
                  <a:srgbClr val="2D2D2D"/>
                </a:solidFill>
                <a:latin typeface="TT Commons Pro"/>
              </a:rPr>
              <a:t>• 受講者のデータをどう管理するか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15360"/>
            <a:ext cx="8229600" cy="299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000"/>
              </a:lnSpc>
            </a:pPr>
            <a:r>
              <a:rPr sz="1300" b="0" i="0">
                <a:solidFill>
                  <a:srgbClr val="2D2D2D"/>
                </a:solidFill>
                <a:latin typeface="TT Commons Pro"/>
              </a:rPr>
              <a:t>一つひとつは「やれば終わる」作業ですが、全体の量と不慣れさが腰を重くしています。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99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000"/>
              </a:lnSpc>
            </a:pPr>
            <a:r>
              <a:rPr sz="1300" b="1" i="0">
                <a:solidFill>
                  <a:srgbClr val="2D2D2D"/>
                </a:solidFill>
                <a:latin typeface="TT Commons Pro"/>
              </a:rPr>
              <a:t>— 起業志望者に届けるメッセージ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21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200"/>
              </a:lnSpc>
            </a:pPr>
            <a:r>
              <a:rPr sz="2100" b="1" i="0">
                <a:solidFill>
                  <a:srgbClr val="2D2D2D"/>
                </a:solidFill>
                <a:latin typeface="TT Commons Pro"/>
              </a:rPr>
              <a:t>あなたはセッションだけ。あとは全部やります。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49400"/>
            <a:ext cx="8229600" cy="299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000"/>
              </a:lnSpc>
            </a:pPr>
            <a:r>
              <a:rPr sz="1300" b="0" i="0">
                <a:solidFill>
                  <a:srgbClr val="2D2D2D"/>
                </a:solidFill>
                <a:latin typeface="TT Commons Pro"/>
              </a:rPr>
              <a:t>これらのノンコア業務を、型化されたプロセスとしてまるごとお引き受けします。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21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200"/>
              </a:lnSpc>
            </a:pPr>
            <a:r>
              <a:rPr sz="2100" b="1" i="0">
                <a:solidFill>
                  <a:srgbClr val="2D2D2D"/>
                </a:solidFill>
                <a:latin typeface="TT Commons Pro"/>
              </a:rPr>
              <a:t>導入前：起業志望者が全部自分でやる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076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1" i="0">
                          <a:solidFill>
                            <a:srgbClr val="2D2D2D"/>
                          </a:solidFill>
                          <a:latin typeface="TT Commons Pro"/>
                        </a:rPr>
                        <a:t>やること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1" i="0">
                          <a:solidFill>
                            <a:srgbClr val="2D2D2D"/>
                          </a:solidFill>
                          <a:latin typeface="TT Commons Pro"/>
                        </a:rPr>
                        <a:t>状態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TT Commons Pro"/>
                        </a:rPr>
                        <a:t>規約・契約書の作成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TT Commons Pro"/>
                        </a:rPr>
                        <a:t>何を書けばいいかわからない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TT Commons Pro"/>
                        </a:rPr>
                        <a:t>決済手段の準備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TT Commons Pro"/>
                        </a:rPr>
                        <a:t>選択肢が多すぎて決められない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TT Commons Pro"/>
                        </a:rPr>
                        <a:t>予約調整・リマインド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TT Commons Pro"/>
                        </a:rPr>
                        <a:t>手動で毎回やる。抜け漏れが起きる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TT Commons Pro"/>
                        </a:rPr>
                        <a:t>問い合わせ・クレーム対応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TT Commons Pro"/>
                        </a:rPr>
                        <a:t>ルールがないので毎回悩む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TT Commons Pro"/>
                        </a:rPr>
                        <a:t>受講者管理・記録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TT Commons Pro"/>
                        </a:rPr>
                        <a:t>バラバラの場所に散在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21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200"/>
              </a:lnSpc>
            </a:pPr>
            <a:r>
              <a:rPr sz="2100" b="1" i="0">
                <a:solidFill>
                  <a:srgbClr val="2D2D2D"/>
                </a:solidFill>
                <a:latin typeface="TT Commons Pro"/>
              </a:rPr>
              <a:t>導入後：起業志望者はセッションだけ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076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1" i="0">
                          <a:solidFill>
                            <a:srgbClr val="2D2D2D"/>
                          </a:solidFill>
                          <a:latin typeface="TT Commons Pro"/>
                        </a:rPr>
                        <a:t>やること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1" i="0">
                          <a:solidFill>
                            <a:srgbClr val="2D2D2D"/>
                          </a:solidFill>
                          <a:latin typeface="TT Commons Pro"/>
                        </a:rPr>
                        <a:t>状態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TT Commons Pro"/>
                        </a:rPr>
                        <a:t>規約・契約書の作成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TT Commons Pro"/>
                        </a:rPr>
                        <a:t>テンプレ提供 → </a:t>
                      </a:r>
                      <a:r>
                        <a:rPr sz="1100" b="1" i="0">
                          <a:solidFill>
                            <a:srgbClr val="2D2D2D"/>
                          </a:solidFill>
                          <a:latin typeface="TT Commons Pro"/>
                        </a:rPr>
                        <a:t>承認するだけ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TT Commons Pro"/>
                        </a:rPr>
                        <a:t>決済手段の準備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TT Commons Pro"/>
                        </a:rPr>
                        <a:t>セットアップ済み → </a:t>
                      </a:r>
                      <a:r>
                        <a:rPr sz="1100" b="1" i="0">
                          <a:solidFill>
                            <a:srgbClr val="2D2D2D"/>
                          </a:solidFill>
                          <a:latin typeface="TT Commons Pro"/>
                        </a:rPr>
                        <a:t>使うだけ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TT Commons Pro"/>
                        </a:rPr>
                        <a:t>予約調整・リマインド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TT Commons Pro"/>
                        </a:rPr>
                        <a:t>自動化 → </a:t>
                      </a:r>
                      <a:r>
                        <a:rPr sz="1100" b="1" i="0">
                          <a:solidFill>
                            <a:srgbClr val="2D2D2D"/>
                          </a:solidFill>
                          <a:latin typeface="TT Commons Pro"/>
                        </a:rPr>
                        <a:t>何もしなくていい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TT Commons Pro"/>
                        </a:rPr>
                        <a:t>問い合わせ・クレーム対応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TT Commons Pro"/>
                        </a:rPr>
                        <a:t>ポリシーに沿って代行 → </a:t>
                      </a:r>
                      <a:r>
                        <a:rPr sz="1100" b="1" i="0">
                          <a:solidFill>
                            <a:srgbClr val="2D2D2D"/>
                          </a:solidFill>
                          <a:latin typeface="TT Commons Pro"/>
                        </a:rPr>
                        <a:t>例外だけ判断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TT Commons Pro"/>
                        </a:rPr>
                        <a:t>受講者管理・記録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TT Commons Pro"/>
                        </a:rPr>
                        <a:t>自動蓄積 → </a:t>
                      </a:r>
                      <a:r>
                        <a:rPr sz="1100" b="1" i="0">
                          <a:solidFill>
                            <a:srgbClr val="2D2D2D"/>
                          </a:solidFill>
                          <a:latin typeface="TT Commons Pro"/>
                        </a:rPr>
                        <a:t>ダッシュボードで見るだけ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21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200"/>
              </a:lnSpc>
            </a:pPr>
            <a:r>
              <a:rPr sz="2100" b="1" i="0">
                <a:solidFill>
                  <a:srgbClr val="2D2D2D"/>
                </a:solidFill>
                <a:latin typeface="TT Commons Pro"/>
              </a:rPr>
              <a:t>サービスの全体像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0760"/>
            <a:ext cx="8229600" cy="553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000"/>
              </a:lnSpc>
            </a:pPr>
            <a:r>
              <a:rPr sz="1300" b="0" i="0">
                <a:solidFill>
                  <a:srgbClr val="2D2D2D"/>
                </a:solidFill>
                <a:latin typeface="TT Commons Pro"/>
              </a:rPr>
              <a:t>セッション事業のノンコア業務を3つの領域で整理しています。まず</a:t>
            </a:r>
            <a:r>
              <a:rPr sz="1300" b="1" i="0">
                <a:solidFill>
                  <a:srgbClr val="2D2D2D"/>
                </a:solidFill>
                <a:latin typeface="TT Commons Pro"/>
              </a:rPr>
              <a:t>セッション運営</a:t>
            </a:r>
            <a:r>
              <a:rPr sz="1300" b="0" i="0">
                <a:solidFill>
                  <a:srgbClr val="2D2D2D"/>
                </a:solidFill>
                <a:latin typeface="TT Commons Pro"/>
              </a:rPr>
              <a:t>と</a:t>
            </a:r>
            <a:r>
              <a:rPr sz="1300" b="1" i="0">
                <a:solidFill>
                  <a:srgbClr val="2D2D2D"/>
                </a:solidFill>
                <a:latin typeface="TT Commons Pro"/>
              </a:rPr>
              <a:t>データ管理・可視化</a:t>
            </a:r>
            <a:r>
              <a:rPr sz="1300" b="0" i="0">
                <a:solidFill>
                  <a:srgbClr val="2D2D2D"/>
                </a:solidFill>
                <a:latin typeface="TT Commons Pro"/>
              </a:rPr>
              <a:t>から提供を開始します。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1" i="0">
                          <a:solidFill>
                            <a:srgbClr val="2D2D2D"/>
                          </a:solidFill>
                          <a:latin typeface="TT Commons Pro"/>
                        </a:rPr>
                        <a:t>領域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1" i="0">
                          <a:solidFill>
                            <a:srgbClr val="2D2D2D"/>
                          </a:solidFill>
                          <a:latin typeface="TT Commons Pro"/>
                        </a:rPr>
                        <a:t>内容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1" i="0">
                          <a:solidFill>
                            <a:srgbClr val="2D2D2D"/>
                          </a:solidFill>
                          <a:latin typeface="TT Commons Pro"/>
                        </a:rPr>
                        <a:t>概要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1" i="0">
                          <a:solidFill>
                            <a:srgbClr val="2D2D2D"/>
                          </a:solidFill>
                          <a:latin typeface="TT Commons Pro"/>
                        </a:rPr>
                        <a:t>セッション運営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TT Commons Pro"/>
                        </a:rPr>
                        <a:t>受講者のライフサイクル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TT Commons Pro"/>
                        </a:rPr>
                        <a:t>申込→無料体験→契約→定期セッション→契約終了。自動化＋例外時の代行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1" i="0">
                          <a:solidFill>
                            <a:srgbClr val="2D2D2D"/>
                          </a:solidFill>
                          <a:latin typeface="TT Commons Pro"/>
                        </a:rPr>
                        <a:t>データ管理・可視化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TT Commons Pro"/>
                        </a:rPr>
                        <a:t>蓄積される情報・データ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TT Commons Pro"/>
                        </a:rPr>
                        <a:t>受講者データ、セッション記録、事業指標。構造設計・自動蓄積・ダッシュボード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TT Commons Pro"/>
                        </a:rPr>
                        <a:t>法務・経理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TT Commons Pro"/>
                        </a:rPr>
                        <a:t>事業運営の基盤業務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TT Commons Pro"/>
                        </a:rPr>
                        <a:t>規約・契約書、経理・会計（今後の展開領域）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21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200"/>
              </a:lnSpc>
            </a:pPr>
            <a:r>
              <a:rPr sz="2100" b="1" i="0">
                <a:solidFill>
                  <a:srgbClr val="2D2D2D"/>
                </a:solidFill>
                <a:latin typeface="TT Commons Pro"/>
              </a:rPr>
              <a:t>起業志望者にやっていただくことは2つだけ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076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1" i="0">
                          <a:solidFill>
                            <a:srgbClr val="2D2D2D"/>
                          </a:solidFill>
                          <a:latin typeface="TT Commons Pro"/>
                        </a:rPr>
                        <a:t>やること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1" i="0">
                          <a:solidFill>
                            <a:srgbClr val="2D2D2D"/>
                          </a:solidFill>
                          <a:latin typeface="TT Commons Pro"/>
                        </a:rPr>
                        <a:t>内容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1" i="0">
                          <a:solidFill>
                            <a:srgbClr val="2D2D2D"/>
                          </a:solidFill>
                          <a:latin typeface="TT Commons Pro"/>
                        </a:rPr>
                        <a:t>テンプレ・ポリシーの承認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TT Commons Pro"/>
                        </a:rPr>
                        <a:t>サービス側が提案するテンプレ（返信トーン・例外対応の方針・各種定型文など）を承認 or 修正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1" i="0">
                          <a:solidFill>
                            <a:srgbClr val="2D2D2D"/>
                          </a:solidFill>
                          <a:latin typeface="TT Commons Pro"/>
                        </a:rPr>
                        <a:t>ツールのアクセス権限付与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TT Commons Pro"/>
                        </a:rPr>
                        <a:t>メール・カレンダー・決済・CRMのアクセス・権限を付与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2372360"/>
            <a:ext cx="8229600" cy="553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000"/>
              </a:lnSpc>
            </a:pPr>
            <a:r>
              <a:rPr sz="1300" b="0" i="0">
                <a:solidFill>
                  <a:srgbClr val="2D2D2D"/>
                </a:solidFill>
                <a:latin typeface="TT Commons Pro"/>
              </a:rPr>
              <a:t>オペレーションの</a:t>
            </a:r>
            <a:r>
              <a:rPr sz="1300" b="1" i="0">
                <a:solidFill>
                  <a:srgbClr val="2D2D2D"/>
                </a:solidFill>
                <a:latin typeface="TT Commons Pro"/>
              </a:rPr>
              <a:t>設計・構築・テスト</a:t>
            </a:r>
            <a:r>
              <a:rPr sz="1300" b="0" i="0">
                <a:solidFill>
                  <a:srgbClr val="2D2D2D"/>
                </a:solidFill>
                <a:latin typeface="TT Commons Pro"/>
              </a:rPr>
              <a:t>はすべてサービス側で実施します。起業志望者は「自分のサービスをどう届けたいか」を決めるだけです。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21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200"/>
              </a:lnSpc>
            </a:pPr>
            <a:r>
              <a:rPr sz="2100" b="1" i="0">
                <a:solidFill>
                  <a:srgbClr val="2D2D2D"/>
                </a:solidFill>
                <a:latin typeface="TT Commons Pro"/>
              </a:rPr>
              <a:t>起業支援者にとっての価値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5039"/>
            <a:ext cx="8229600" cy="401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800"/>
              </a:lnSpc>
            </a:pPr>
            <a:r>
              <a:rPr sz="1900" b="1" i="0">
                <a:solidFill>
                  <a:srgbClr val="2D2D2D"/>
                </a:solidFill>
                <a:latin typeface="TT Commons Pro"/>
              </a:rPr>
              <a:t>起業志望者の成功率が上がる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29511"/>
            <a:ext cx="7863840" cy="807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000"/>
              </a:lnSpc>
            </a:pPr>
            <a:r>
              <a:rPr sz="1300" b="0" i="0">
                <a:solidFill>
                  <a:srgbClr val="2D2D2D"/>
                </a:solidFill>
                <a:latin typeface="TT Commons Pro"/>
              </a:rPr>
              <a:t>• 「やりたいけど動けない」の原因がなくなる</a:t>
            </a:r>
          </a:p>
          <a:p>
            <a:pPr algn="l">
              <a:lnSpc>
                <a:spcPts val="2000"/>
              </a:lnSpc>
            </a:pPr>
            <a:r>
              <a:rPr sz="1300" b="0" i="0">
                <a:solidFill>
                  <a:srgbClr val="2D2D2D"/>
                </a:solidFill>
                <a:latin typeface="TT Commons Pro"/>
              </a:rPr>
              <a:t>• オペレーション構築が終わった状態からスタートできる</a:t>
            </a:r>
          </a:p>
          <a:p>
            <a:pPr algn="l">
              <a:lnSpc>
                <a:spcPts val="2000"/>
              </a:lnSpc>
            </a:pPr>
            <a:r>
              <a:rPr sz="1300" b="0" i="0">
                <a:solidFill>
                  <a:srgbClr val="2D2D2D"/>
                </a:solidFill>
                <a:latin typeface="TT Commons Pro"/>
              </a:rPr>
              <a:t>• 起業支援の成果が実際の行動・成果に結びつきやすくなる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20112"/>
            <a:ext cx="8229600" cy="401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800"/>
              </a:lnSpc>
            </a:pPr>
            <a:r>
              <a:rPr sz="1900" b="1" i="0">
                <a:solidFill>
                  <a:srgbClr val="2D2D2D"/>
                </a:solidFill>
                <a:latin typeface="TT Commons Pro"/>
              </a:rPr>
              <a:t>オペレーション指導の負担が減る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94583"/>
            <a:ext cx="7863840" cy="553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000"/>
              </a:lnSpc>
            </a:pPr>
            <a:r>
              <a:rPr sz="1300" b="0" i="0">
                <a:solidFill>
                  <a:srgbClr val="2D2D2D"/>
                </a:solidFill>
                <a:latin typeface="TT Commons Pro"/>
              </a:rPr>
              <a:t>• 「やれ」と言えても「代わりにやる」ことはできなかった部分を、サービスが巻き取る</a:t>
            </a:r>
          </a:p>
          <a:p>
            <a:pPr algn="l">
              <a:lnSpc>
                <a:spcPts val="2000"/>
              </a:lnSpc>
            </a:pPr>
            <a:r>
              <a:rPr sz="1300" b="0" i="0">
                <a:solidFill>
                  <a:srgbClr val="2D2D2D"/>
                </a:solidFill>
                <a:latin typeface="TT Commons Pro"/>
              </a:rPr>
              <a:t>• 起業支援者は本業に集中できる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21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200"/>
              </a:lnSpc>
            </a:pPr>
            <a:r>
              <a:rPr sz="2100" b="1" i="0">
                <a:solidFill>
                  <a:srgbClr val="2D2D2D"/>
                </a:solidFill>
                <a:latin typeface="TT Commons Pro"/>
              </a:rPr>
              <a:t>料金の考え方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0760"/>
            <a:ext cx="8229600" cy="299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000"/>
              </a:lnSpc>
            </a:pPr>
            <a:r>
              <a:rPr sz="1300" b="1" i="0">
                <a:solidFill>
                  <a:srgbClr val="2D2D2D"/>
                </a:solidFill>
                <a:latin typeface="TT Commons Pro"/>
              </a:rPr>
              <a:t>始めやすく、成長するほど得をする構造</a:t>
            </a:r>
            <a:r>
              <a:rPr sz="1300" b="0" i="0">
                <a:solidFill>
                  <a:srgbClr val="2D2D2D"/>
                </a:solidFill>
                <a:latin typeface="TT Commons Pro"/>
              </a:rPr>
              <a:t>を目指しています。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4940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1" i="0">
                          <a:solidFill>
                            <a:srgbClr val="2D2D2D"/>
                          </a:solidFill>
                          <a:latin typeface="TT Commons Pro"/>
                        </a:rPr>
                        <a:t>フェーズ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1" i="0">
                          <a:solidFill>
                            <a:srgbClr val="2D2D2D"/>
                          </a:solidFill>
                          <a:latin typeface="TT Commons Pro"/>
                        </a:rPr>
                        <a:t>課金形態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1" i="0">
                          <a:solidFill>
                            <a:srgbClr val="2D2D2D"/>
                          </a:solidFill>
                          <a:latin typeface="TT Commons Pro"/>
                        </a:rPr>
                        <a:t>考え方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1" i="0">
                          <a:solidFill>
                            <a:srgbClr val="2D2D2D"/>
                          </a:solidFill>
                          <a:latin typeface="TT Commons Pro"/>
                        </a:rPr>
                        <a:t>導入（初期構築）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TT Commons Pro"/>
                        </a:rPr>
                        <a:t>初期費用（低額）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TT Commons Pro"/>
                        </a:rPr>
                        <a:t>オペレーションの設計・構築・テストまで含む。始めるハードルを下げる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1" i="0">
                          <a:solidFill>
                            <a:srgbClr val="2D2D2D"/>
                          </a:solidFill>
                          <a:latin typeface="TT Commons Pro"/>
                        </a:rPr>
                        <a:t>運用（従量課金）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TT Commons Pro"/>
                        </a:rPr>
                        <a:t>使った分だけ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TT Commons Pro"/>
                        </a:rPr>
                        <a:t>実際に発生したイベント（予約・決済等）ごとに課金。使わなければコストゼロに近い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1" i="0">
                          <a:solidFill>
                            <a:srgbClr val="2D2D2D"/>
                          </a:solidFill>
                          <a:latin typeface="TT Commons Pro"/>
                        </a:rPr>
                        <a:t>スケール（定額移行）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TT Commons Pro"/>
                        </a:rPr>
                        <a:t>月額定額＋低単価の従量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TT Commons Pro"/>
                        </a:rPr>
                        <a:t>一定規模を超えたら定額に移行。単価が下がり、成長するほど利益率が改善する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28676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1500" i="1">
                <a:solidFill>
                  <a:srgbClr val="2D2D2D"/>
                </a:solidFill>
                <a:latin typeface="TT Commons Pro"/>
              </a:rPr>
              <a:t>料金の詳細は現在設計中です。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21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200"/>
              </a:lnSpc>
            </a:pPr>
            <a:r>
              <a:rPr sz="2100" b="1" i="0">
                <a:solidFill>
                  <a:srgbClr val="2D2D2D"/>
                </a:solidFill>
                <a:latin typeface="TT Commons Pro"/>
              </a:rPr>
              <a:t>お願い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0760"/>
            <a:ext cx="8229600" cy="299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000"/>
              </a:lnSpc>
            </a:pPr>
            <a:r>
              <a:rPr sz="1300" b="0" i="0">
                <a:solidFill>
                  <a:srgbClr val="2D2D2D"/>
                </a:solidFill>
                <a:latin typeface="TT Commons Pro"/>
              </a:rPr>
              <a:t>このサービスは現在、企画段階です。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49400"/>
            <a:ext cx="8229600" cy="299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000"/>
              </a:lnSpc>
            </a:pPr>
            <a:r>
              <a:rPr sz="1300" b="0" i="0">
                <a:solidFill>
                  <a:srgbClr val="2D2D2D"/>
                </a:solidFill>
                <a:latin typeface="TT Commons Pro"/>
              </a:rPr>
              <a:t>起業支援をされている立場から、ぜひお話を聞かせてください。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98040"/>
            <a:ext cx="8229600" cy="401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800"/>
              </a:lnSpc>
            </a:pPr>
            <a:r>
              <a:rPr sz="1900" b="1" i="0">
                <a:solidFill>
                  <a:srgbClr val="2D2D2D"/>
                </a:solidFill>
                <a:latin typeface="TT Commons Pro"/>
              </a:rPr>
              <a:t>お聞きしたいこと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72512"/>
            <a:ext cx="7863840" cy="807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000"/>
              </a:lnSpc>
            </a:pPr>
            <a:r>
              <a:rPr sz="1300" b="0" i="0">
                <a:solidFill>
                  <a:srgbClr val="2D2D2D"/>
                </a:solidFill>
                <a:latin typeface="TT Commons Pro"/>
              </a:rPr>
              <a:t>• サポートされている方が</a:t>
            </a:r>
            <a:r>
              <a:rPr sz="1300" b="1" i="0">
                <a:solidFill>
                  <a:srgbClr val="2D2D2D"/>
                </a:solidFill>
                <a:latin typeface="TT Commons Pro"/>
              </a:rPr>
              <a:t>どんなところでつまずきやすい</a:t>
            </a:r>
            <a:r>
              <a:rPr sz="1300" b="0" i="0">
                <a:solidFill>
                  <a:srgbClr val="2D2D2D"/>
                </a:solidFill>
                <a:latin typeface="TT Commons Pro"/>
              </a:rPr>
              <a:t>か</a:t>
            </a:r>
          </a:p>
          <a:p>
            <a:pPr algn="l">
              <a:lnSpc>
                <a:spcPts val="2000"/>
              </a:lnSpc>
            </a:pPr>
            <a:r>
              <a:rPr sz="1300" b="0" i="0">
                <a:solidFill>
                  <a:srgbClr val="2D2D2D"/>
                </a:solidFill>
                <a:latin typeface="TT Commons Pro"/>
              </a:rPr>
              <a:t>• どの業務を代行されると</a:t>
            </a:r>
            <a:r>
              <a:rPr sz="1300" b="1" i="0">
                <a:solidFill>
                  <a:srgbClr val="2D2D2D"/>
                </a:solidFill>
                <a:latin typeface="TT Commons Pro"/>
              </a:rPr>
              <a:t>一番助かる</a:t>
            </a:r>
            <a:r>
              <a:rPr sz="1300" b="0" i="0">
                <a:solidFill>
                  <a:srgbClr val="2D2D2D"/>
                </a:solidFill>
                <a:latin typeface="TT Commons Pro"/>
              </a:rPr>
              <a:t>か</a:t>
            </a:r>
          </a:p>
          <a:p>
            <a:pPr algn="l">
              <a:lnSpc>
                <a:spcPts val="2000"/>
              </a:lnSpc>
            </a:pPr>
            <a:r>
              <a:rPr sz="1300" b="0" i="0">
                <a:solidFill>
                  <a:srgbClr val="2D2D2D"/>
                </a:solidFill>
                <a:latin typeface="TT Commons Pro"/>
              </a:rPr>
              <a:t>• このようなサービスがあったら</a:t>
            </a:r>
            <a:r>
              <a:rPr sz="1300" b="1" i="0">
                <a:solidFill>
                  <a:srgbClr val="2D2D2D"/>
                </a:solidFill>
                <a:latin typeface="TT Commons Pro"/>
              </a:rPr>
              <a:t>紹介したいと思うか</a:t>
            </a:r>
            <a:r>
              <a:rPr sz="1300" b="0" i="0">
                <a:solidFill>
                  <a:srgbClr val="2D2D2D"/>
                </a:solidFill>
                <a:latin typeface="TT Commons Pro"/>
              </a:rPr>
              <a:t>、その条件は何か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3600"/>
              </a:lnSpc>
            </a:pPr>
            <a:r>
              <a:rPr sz="2300" b="1" i="0">
                <a:solidFill>
                  <a:srgbClr val="2D2D2D"/>
                </a:solidFill>
                <a:latin typeface="TT Commons Pro"/>
              </a:rPr>
              <a:t>Appendix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21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200"/>
              </a:lnSpc>
            </a:pPr>
            <a:r>
              <a:rPr sz="2100" b="1" i="0">
                <a:solidFill>
                  <a:srgbClr val="2D2D2D"/>
                </a:solidFill>
                <a:latin typeface="TT Commons Pro"/>
              </a:rPr>
              <a:t>A1. セッション運営の詳細：受講者のライフサイクル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0760"/>
            <a:ext cx="8229600" cy="236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500"/>
              </a:lnSpc>
            </a:pPr>
            <a:r>
              <a:rPr sz="1000" b="0" i="0">
                <a:solidFill>
                  <a:srgbClr val="2D2D2D"/>
                </a:solidFill>
                <a:latin typeface="TT Commons Pro"/>
              </a:rPr>
              <a:t>受講者の申込から契約終了までの業務フローを、自動化＋例外時の代行で回します。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22790"/>
            <a:ext cx="8229600" cy="401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800"/>
              </a:lnSpc>
            </a:pPr>
            <a:r>
              <a:rPr sz="1900" b="1" i="0">
                <a:solidFill>
                  <a:srgbClr val="2D2D2D"/>
                </a:solidFill>
                <a:latin typeface="TT Commons Pro"/>
              </a:rPr>
              <a:t>メインフロー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97262"/>
          <a:ext cx="8229600" cy="16881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281353"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1" i="0">
                          <a:solidFill>
                            <a:srgbClr val="2D2D2D"/>
                          </a:solidFill>
                          <a:latin typeface="TT Commons Pro"/>
                        </a:rPr>
                        <a:t>ステップ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1" i="0">
                          <a:solidFill>
                            <a:srgbClr val="2D2D2D"/>
                          </a:solidFill>
                          <a:latin typeface="TT Commons Pro"/>
                        </a:rPr>
                        <a:t>やること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1" i="0">
                          <a:solidFill>
                            <a:srgbClr val="2D2D2D"/>
                          </a:solidFill>
                          <a:latin typeface="TT Commons Pro"/>
                        </a:rPr>
                        <a:t>自動化/代行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81353"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① 申込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申込フォーム受信→受付確認・予約確定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自動化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353"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② 無料体験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事前案内→リマインド→体験実施→成約フォロー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自動化＋代行（成約フォロー）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353"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③ 契約・決済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規約・契約書送付→同意→決済→入金確認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自動化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353"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④ 定期セッション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予約調整→事前案内→リマインド→実施→フォローアップ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自動化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358"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⑤ 契約終了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終了案内→アンケート→CRM更新→卒業後フォロー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自動化＋代行（卒業後フォロー）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796401"/>
            <a:ext cx="8229600" cy="401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800"/>
              </a:lnSpc>
            </a:pPr>
            <a:r>
              <a:rPr sz="1900" b="1" i="0">
                <a:solidFill>
                  <a:srgbClr val="2D2D2D"/>
                </a:solidFill>
                <a:latin typeface="TT Commons Pro"/>
              </a:rPr>
              <a:t>例外処理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70873"/>
            <a:ext cx="8229600" cy="998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500"/>
              </a:lnSpc>
            </a:pPr>
            <a:r>
              <a:rPr sz="1000" b="0" i="0">
                <a:solidFill>
                  <a:srgbClr val="2D2D2D"/>
                </a:solidFill>
                <a:latin typeface="TT Commons Pro"/>
              </a:rPr>
              <a:t>問い合わせ・未払い・リスケ・クレーム・返金・無断欠席などが発生した場合：</a:t>
            </a:r>
          </a:p>
          <a:p>
            <a:pPr algn="l">
              <a:lnSpc>
                <a:spcPts val="1500"/>
              </a:lnSpc>
            </a:pPr>
          </a:p>
          <a:p>
            <a:pPr algn="l">
              <a:lnSpc>
                <a:spcPts val="1500"/>
              </a:lnSpc>
            </a:pPr>
            <a:r>
              <a:rPr sz="1000" b="0" i="0">
                <a:solidFill>
                  <a:srgbClr val="2D2D2D"/>
                </a:solidFill>
                <a:latin typeface="TT Commons Pro"/>
              </a:rPr>
              <a:t>1. ポリシー（事前に承認済みのルール）に照合</a:t>
            </a:r>
          </a:p>
          <a:p>
            <a:pPr algn="l">
              <a:lnSpc>
                <a:spcPts val="1500"/>
              </a:lnSpc>
            </a:pPr>
            <a:r>
              <a:rPr sz="1000" b="0" i="0">
                <a:solidFill>
                  <a:srgbClr val="2D2D2D"/>
                </a:solidFill>
                <a:latin typeface="TT Commons Pro"/>
              </a:rPr>
              <a:t>2. ポリシー内 → 対応＋監査ログ</a:t>
            </a:r>
          </a:p>
          <a:p>
            <a:pPr algn="l">
              <a:lnSpc>
                <a:spcPts val="1500"/>
              </a:lnSpc>
            </a:pPr>
            <a:r>
              <a:rPr sz="1000" b="0" i="0">
                <a:solidFill>
                  <a:srgbClr val="2D2D2D"/>
                </a:solidFill>
                <a:latin typeface="TT Commons Pro"/>
              </a:rPr>
              <a:t>3. ポリシー外 → 起業志望者に判断を依頼 → 対応＋監査ログ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21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200"/>
              </a:lnSpc>
            </a:pPr>
            <a:r>
              <a:rPr sz="2100" b="1" i="0">
                <a:solidFill>
                  <a:srgbClr val="2D2D2D"/>
                </a:solidFill>
                <a:latin typeface="TT Commons Pro"/>
              </a:rPr>
              <a:t>A2. データ管理・可視化の詳細：蓄積データの構造と活用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0760"/>
            <a:ext cx="8229600" cy="236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500"/>
              </a:lnSpc>
            </a:pPr>
            <a:r>
              <a:rPr sz="1000" b="0" i="0">
                <a:solidFill>
                  <a:srgbClr val="2D2D2D"/>
                </a:solidFill>
                <a:latin typeface="TT Commons Pro"/>
              </a:rPr>
              <a:t>セッション運営の各ステップで自動的にデータを蓄積し、運用と改善に活用します。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22790"/>
            <a:ext cx="8229600" cy="401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800"/>
              </a:lnSpc>
            </a:pPr>
            <a:r>
              <a:rPr sz="1900" b="1" i="0">
                <a:solidFill>
                  <a:srgbClr val="2D2D2D"/>
                </a:solidFill>
                <a:latin typeface="TT Commons Pro"/>
              </a:rPr>
              <a:t>蓄積されるデータ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97262"/>
          <a:ext cx="8229600" cy="16881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281353"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1" i="0">
                          <a:solidFill>
                            <a:srgbClr val="2D2D2D"/>
                          </a:solidFill>
                          <a:latin typeface="TT Commons Pro"/>
                        </a:rPr>
                        <a:t>データ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1" i="0">
                          <a:solidFill>
                            <a:srgbClr val="2D2D2D"/>
                          </a:solidFill>
                          <a:latin typeface="TT Commons Pro"/>
                        </a:rPr>
                        <a:t>蓄積タイミング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1" i="0">
                          <a:solidFill>
                            <a:srgbClr val="2D2D2D"/>
                          </a:solidFill>
                          <a:latin typeface="TT Commons Pro"/>
                        </a:rPr>
                        <a:t>活用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81353"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プロフィール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申込時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事前案内のパーソナライズ、文脈保持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353"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体験結果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無料体験後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成約フォローの優先順位、成約率改善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353"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契約・決済情報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契約時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請求管理、更新前フォロー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353"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セッション履歴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各セッション後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未予約アラート、離脱予兆の早期検知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358"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対応履歴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全ステップ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品質監査、引き継ぎ、再契約時の文脈再利用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796401"/>
            <a:ext cx="8229600" cy="401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800"/>
              </a:lnSpc>
            </a:pPr>
            <a:r>
              <a:rPr sz="1900" b="1" i="0">
                <a:solidFill>
                  <a:srgbClr val="2D2D2D"/>
                </a:solidFill>
                <a:latin typeface="TT Commons Pro"/>
              </a:rPr>
              <a:t>事業指標ダッシュボード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4270873"/>
          <a:ext cx="8229600" cy="1969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81353"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1" i="0">
                          <a:solidFill>
                            <a:srgbClr val="2D2D2D"/>
                          </a:solidFill>
                          <a:latin typeface="TT Commons Pro"/>
                        </a:rPr>
                        <a:t>指標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1" i="0">
                          <a:solidFill>
                            <a:srgbClr val="2D2D2D"/>
                          </a:solidFill>
                          <a:latin typeface="TT Commons Pro"/>
                        </a:rPr>
                        <a:t>起業支援者にとっての意味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81353"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申込数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集客の量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353"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体験→成約の転換率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セッションの訴求力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353"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継続率 / 離脱率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提供価値の維持状況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353"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未予約期間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離脱予兆の早期検知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353"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フォロー実施率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運用品質の維持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358"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再契約率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継続運用価値の検証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21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200"/>
              </a:lnSpc>
            </a:pPr>
            <a:r>
              <a:rPr sz="2100" b="1" i="0">
                <a:solidFill>
                  <a:srgbClr val="2D2D2D"/>
                </a:solidFill>
                <a:latin typeface="TT Commons Pro"/>
              </a:rPr>
              <a:t>A3. 法務・経理（今後の展開領域）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0760"/>
            <a:ext cx="8229600" cy="236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500"/>
              </a:lnSpc>
            </a:pPr>
            <a:r>
              <a:rPr sz="1000" b="0" i="0">
                <a:solidFill>
                  <a:srgbClr val="2D2D2D"/>
                </a:solidFill>
                <a:latin typeface="TT Commons Pro"/>
              </a:rPr>
              <a:t>セッション運営やデータ管理とは別に、事業そのものを運営するための業務。今後の展開として対応を予定しています。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22790"/>
            <a:ext cx="8229600" cy="401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800"/>
              </a:lnSpc>
            </a:pPr>
            <a:r>
              <a:rPr sz="1900" b="1" i="0">
                <a:solidFill>
                  <a:srgbClr val="2D2D2D"/>
                </a:solidFill>
                <a:latin typeface="TT Commons Pro"/>
              </a:rPr>
              <a:t>法務・規約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97262"/>
          <a:ext cx="8229600" cy="1406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81353"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1" i="0">
                          <a:solidFill>
                            <a:srgbClr val="2D2D2D"/>
                          </a:solidFill>
                          <a:latin typeface="TT Commons Pro"/>
                        </a:rPr>
                        <a:t>業務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1" i="0">
                          <a:solidFill>
                            <a:srgbClr val="2D2D2D"/>
                          </a:solidFill>
                          <a:latin typeface="TT Commons Pro"/>
                        </a:rPr>
                        <a:t>提供内容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81353"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利用規約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テンプレ提供＋カスタマイズ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353"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プライバシーポリシー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テンプレ提供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353"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特定商取引法に基づく表記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テンプレ提供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357"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契約書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テンプレ提供＋カスタマイズ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515047"/>
            <a:ext cx="8229600" cy="401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800"/>
              </a:lnSpc>
            </a:pPr>
            <a:r>
              <a:rPr sz="1900" b="1" i="0">
                <a:solidFill>
                  <a:srgbClr val="2D2D2D"/>
                </a:solidFill>
                <a:latin typeface="TT Commons Pro"/>
              </a:rPr>
              <a:t>経理・会計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989519"/>
          <a:ext cx="8229600" cy="1406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81353"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1" i="0">
                          <a:solidFill>
                            <a:srgbClr val="2D2D2D"/>
                          </a:solidFill>
                          <a:latin typeface="TT Commons Pro"/>
                        </a:rPr>
                        <a:t>業務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1" i="0">
                          <a:solidFill>
                            <a:srgbClr val="2D2D2D"/>
                          </a:solidFill>
                          <a:latin typeface="TT Commons Pro"/>
                        </a:rPr>
                        <a:t>提供内容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81353"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売上集計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決済データから自動集計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353"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経費管理・記帳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記帳代行 or freee等連携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353"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請求書管理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決済ツール連携で自動化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357"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確定申告準備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TT Commons Pro"/>
                        </a:rPr>
                        <a:t>税理士連携のサポート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